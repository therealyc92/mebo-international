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4F6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FFFFFF"/>
                </a:solidFill>
                <a:latin typeface="Poppins"/>
              </a:defRPr>
            </a:pPr>
            <a:r>
              <a:t>Clinical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5EEAD4"/>
                </a:solidFill>
                <a:latin typeface="Poppins"/>
              </a:defRPr>
            </a:pPr>
            <a:r>
              <a:t>MEBO Ointment — Scientific Foundation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88AABB"/>
                </a:solidFill>
                <a:latin typeface="Inter"/>
              </a:defRPr>
            </a:pPr>
            <a:r>
              <a:t>More than 45 publications in peer-reviewed scientific journals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A Consolidated Scientific Foundation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A5D6E"/>
                </a:solidFill>
                <a:latin typeface="Inter"/>
              </a:defRPr>
            </a:pPr>
            <a:r>
              <a:t>Figures reflecting MEBO International's ongoing commitment to high-quality clinical research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BA89F"/>
                </a:solidFill>
                <a:latin typeface="Poppins"/>
              </a:defRPr>
            </a:pPr>
            <a:r>
              <a:t>45+</a:t>
            </a:r>
          </a:p>
          <a:p>
            <a:pPr algn="ctr">
              <a:defRPr sz="1300">
                <a:solidFill>
                  <a:srgbClr val="4A5D6E"/>
                </a:solidFill>
                <a:latin typeface="Inter"/>
              </a:defRPr>
            </a:pPr>
            <a:r>
              <a:t>Scientific publications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BA89F"/>
                </a:solidFill>
                <a:latin typeface="Poppins"/>
              </a:defRPr>
            </a:pPr>
            <a:r>
              <a:t>15</a:t>
            </a:r>
          </a:p>
          <a:p>
            <a:pPr algn="ctr">
              <a:defRPr sz="1300">
                <a:solidFill>
                  <a:srgbClr val="4A5D6E"/>
                </a:solidFill>
                <a:latin typeface="Inter"/>
              </a:defRPr>
            </a:pPr>
            <a:r>
              <a:t>Meta-analyses and reviews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BA89F"/>
                </a:solidFill>
                <a:latin typeface="Poppins"/>
              </a:defRPr>
            </a:pPr>
            <a:r>
              <a:t>5,000+</a:t>
            </a:r>
          </a:p>
          <a:p>
            <a:pPr algn="ctr">
              <a:defRPr sz="1300">
                <a:solidFill>
                  <a:srgbClr val="4A5D6E"/>
                </a:solidFill>
                <a:latin typeface="Inter"/>
              </a:defRPr>
            </a:pPr>
            <a:r>
              <a:t>Patients in studies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509760" y="1645920"/>
            <a:ext cx="256032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2BA89F"/>
                </a:solidFill>
                <a:latin typeface="Poppins"/>
              </a:defRPr>
            </a:pPr>
            <a:r>
              <a:t>20</a:t>
            </a:r>
          </a:p>
          <a:p>
            <a:pPr algn="ctr">
              <a:defRPr sz="1300">
                <a:solidFill>
                  <a:srgbClr val="4A5D6E"/>
                </a:solidFill>
                <a:latin typeface="Inter"/>
              </a:defRPr>
            </a:pPr>
            <a:r>
              <a:t>Research countries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4F6C"/>
                </a:solidFill>
                <a:latin typeface="Poppins"/>
              </a:defRPr>
            </a:pPr>
            <a:r>
              <a:t>Comparative Data — Healing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Aggregated data from comparative studies in partial-thickness burns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4F6C"/>
                </a:solidFill>
                <a:latin typeface="Poppins"/>
              </a:defRPr>
            </a:pPr>
            <a:r>
              <a:t>Healing Time (days)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MEBO 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194560"/>
            <a:ext cx="4400550" cy="320040"/>
          </a:xfrm>
          <a:prstGeom prst="rect">
            <a:avLst/>
          </a:prstGeom>
          <a:solidFill>
            <a:srgbClr val="2B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09509" y="2194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A89F"/>
                </a:solidFill>
                <a:latin typeface="Inter"/>
              </a:defRPr>
            </a:pPr>
            <a:r>
              <a:t>12.5 days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SSD (Conventional)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651760"/>
            <a:ext cx="6407200" cy="3200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516160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5A5A6"/>
                </a:solidFill>
                <a:latin typeface="Inter"/>
              </a:defRPr>
            </a:pPr>
            <a:r>
              <a:t>18.2 days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4F6C"/>
                </a:solidFill>
                <a:latin typeface="Poppins"/>
              </a:defRPr>
            </a:pPr>
            <a:r>
              <a:t>Comparative Data — Pain 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Aggregated data from comparative studies in partial-thickness burns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4F6C"/>
                </a:solidFill>
                <a:latin typeface="Poppins"/>
              </a:defRPr>
            </a:pPr>
            <a:r>
              <a:t>Pain Score (VAS 0-10)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MEBO 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194560"/>
            <a:ext cx="2112264" cy="320040"/>
          </a:xfrm>
          <a:prstGeom prst="rect">
            <a:avLst/>
          </a:prstGeom>
          <a:solidFill>
            <a:srgbClr val="2B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221224" y="2194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A89F"/>
                </a:solidFill>
                <a:latin typeface="Inter"/>
              </a:defRPr>
            </a:pPr>
            <a:r>
              <a:t>2.4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SSD (Conventional)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651760"/>
            <a:ext cx="5104638" cy="3200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13597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5A5A6"/>
                </a:solidFill>
                <a:latin typeface="Inter"/>
              </a:defRPr>
            </a:pPr>
            <a:r>
              <a:t>5.8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B4F6C"/>
                </a:solidFill>
                <a:latin typeface="Poppins"/>
              </a:defRPr>
            </a:pPr>
            <a:r>
              <a:t>Comparative Data — Scar Formation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5D6E"/>
                </a:solidFill>
                <a:latin typeface="Inter"/>
              </a:defRPr>
            </a:pPr>
            <a:r>
              <a:t>Aggregated data from comparative studies in partial-thickness burns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B4F6C"/>
                </a:solidFill>
                <a:latin typeface="Poppins"/>
              </a:defRPr>
            </a:pPr>
            <a:r>
              <a:t>Scar Formation (% of patients)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MEBO Ointment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3017520" y="2194560"/>
            <a:ext cx="2640330" cy="320040"/>
          </a:xfrm>
          <a:prstGeom prst="rect">
            <a:avLst/>
          </a:prstGeom>
          <a:solidFill>
            <a:srgbClr val="2BA8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49290" y="21945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BA89F"/>
                </a:solidFill>
                <a:latin typeface="Inter"/>
              </a:defRPr>
            </a:pPr>
            <a:r>
              <a:t>15%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1A2B3C"/>
                </a:solidFill>
                <a:latin typeface="Inter"/>
              </a:defRPr>
            </a:pPr>
            <a:r>
              <a:t>SSD (Conventional)</a:t>
            </a:r>
          </a:p>
        </p:txBody>
      </p:sp>
      <p:sp>
        <p:nvSpPr>
          <p:cNvPr id="9" name="Rectangle 8"/>
          <p:cNvSpPr/>
          <p:nvPr/>
        </p:nvSpPr>
        <p:spPr>
          <a:xfrm>
            <a:off x="3017520" y="2651760"/>
            <a:ext cx="6688836" cy="320040"/>
          </a:xfrm>
          <a:prstGeom prst="rect">
            <a:avLst/>
          </a:prstGeom>
          <a:solidFill>
            <a:srgbClr val="95A5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797796" y="2651760"/>
            <a:ext cx="731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95A5A6"/>
                </a:solidFill>
                <a:latin typeface="Inter"/>
              </a:defRPr>
            </a:pPr>
            <a:r>
              <a:t>38%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5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Featured Studies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09728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68680" y="1188720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Clinical trial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Efficacy of MEBO vs. silver sulfadiazine in partial-thickness burns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Significant reduction in healing time and pain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09728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537960" y="1188720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Meta-analysis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14630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Meta-analysis of MEBO in burn treatment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182880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Superiority of MEBO in re-epithelialization and aesthetics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834639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68680" y="2926079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Clinical study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200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MEBO in chronic ulcers and diabetic foot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56615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Higher healing rates vs conventional treatment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834639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537960" y="2926079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Review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20039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Pharmacological mechanisms of MEBO ointment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566159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Anti-inflammatory, antimicrobial, regenerative properties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68680" y="4663440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Cohort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Clinical experience with MEBO in major burns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03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Reduced infectious complications in extensive burns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5303520" cy="15544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BA89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537960" y="4663440"/>
            <a:ext cx="1371600" cy="228600"/>
          </a:xfrm>
          <a:prstGeom prst="roundRect">
            <a:avLst/>
          </a:prstGeom>
          <a:solidFill>
            <a:srgbClr val="5EEA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0B4F6C"/>
                </a:solidFill>
              </a:defRPr>
            </a:pPr>
            <a:r>
              <a:t>Controlled trial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49377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2B3C"/>
                </a:solidFill>
                <a:latin typeface="Poppins"/>
              </a:defRPr>
            </a:pPr>
            <a:r>
              <a:t>Comparison of healing quality: MEBO vs. conventional dressings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5303520"/>
            <a:ext cx="5029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4A5D6E"/>
                </a:solidFill>
                <a:latin typeface="Inter"/>
              </a:defRPr>
            </a:pPr>
            <a:r>
              <a:t>Superior outcomes in texture, pigmentation, elasticity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0B4F6C"/>
                </a:solidFill>
                <a:latin typeface="Poppins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1. Atiyeh BS, et al. Moist exposed therapy: an effective and valid alternative to occlusive dressings for postburn wound management. Ann Plast Surg. PMID: 11173811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1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2. Li Z, et al. A systematic review and meta-analysis of MEBO for burn wounds. J Int Med Res. PMID: 32046430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945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3. Wang X, et al. Efficacy of moist exposed burn ointment on diabetic foot ulcers. Int J Low Extrem Wounds. PMID: 28814157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4. Chen W, et al. Pharmacological mechanisms of MEBO in wound healing. Evid Based Complement Alternat Med. PMID: 22611421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2918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5. Zhang Y, et al. Clinical outcomes of MEBO in deep partial-thickness burns. Burns. PMID: 25444360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8404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6. Liu H, et al. MEBO vs. silver sulfadiazine: a comparative study. Chin J Burns. PMID: 21289987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7. Rodrigues PG, et al. Experience with MEBO in Latin American burn centers. Ann Burns Fire Disasters. PMID: 29527234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59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5D6E"/>
                </a:solidFill>
                <a:latin typeface="Inter"/>
              </a:defRPr>
            </a:pPr>
            <a:r>
              <a:t>8. Singh V, et al. MEBO for donor site wounds: a randomized trial. Wound Repair Regen. PMID: 23480531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6400800"/>
            <a:ext cx="11277295" cy="365760"/>
          </a:xfrm>
          <a:prstGeom prst="roundRect">
            <a:avLst/>
          </a:prstGeom>
          <a:solidFill>
            <a:srgbClr val="FFF3CD"/>
          </a:solidFill>
          <a:ln w="12700">
            <a:solidFill>
              <a:srgbClr val="FFC10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>
                <a:solidFill>
                  <a:srgbClr val="856D04"/>
                </a:solidFill>
                <a:latin typeface="Inter"/>
              </a:defRPr>
            </a:pPr>
            <a:r>
              <a:t>医学技术部审阅意见：_______________________________________________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