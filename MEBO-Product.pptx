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Poppins"/>
              </a:defRPr>
            </a:pPr>
            <a:r>
              <a:t>MEBO Ointment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EEAD4"/>
                </a:solidFill>
                <a:latin typeface="Poppins"/>
              </a:defRPr>
            </a:pPr>
            <a:r>
              <a:t>Topical Regenerative Ointment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AABB"/>
                </a:solidFill>
                <a:latin typeface="Inter"/>
              </a:defRPr>
            </a:pPr>
            <a:r>
              <a:t>Product Information for Medical Technology Department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400800"/>
            <a:ext cx="11277295" cy="3657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56D04"/>
                </a:solidFill>
                <a:latin typeface="Inter"/>
              </a:defRPr>
            </a:pPr>
            <a:r>
              <a:t>医学技术部审阅意见：_______________________________________________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4F6C"/>
                </a:solidFill>
                <a:latin typeface="Poppins"/>
              </a:defRPr>
            </a:pPr>
            <a:r>
              <a:t>Advanced Cutaneous Regeneration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28600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FDA 510(k) Cleared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4F6C"/>
                </a:solidFill>
                <a:latin typeface="Poppins"/>
              </a:defRPr>
            </a:pPr>
            <a:r>
              <a:t>MEBO Ointment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D6E"/>
                </a:solidFill>
                <a:latin typeface="Inter"/>
              </a:defRPr>
            </a:pPr>
            <a:r>
              <a:t>MEBO Ointment is a unique topical formulation that combines naturally-derived active ingredients with a pharmaceutical base of beeswax and sesame oil, creating a physiological moist environment that favors the natural regeneration of skin.</a:t>
            </a:r>
            <a:br/>
            <a:br/>
            <a:r>
              <a:t>Designed for the treatment of partial-thickness burns, chronic ulcers, diabetic foot, and skin graft donor sites.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64008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8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297679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B3C"/>
                </a:solidFill>
                <a:latin typeface="Poppins"/>
              </a:defRPr>
            </a:pPr>
            <a:r>
              <a:t>Active Ingredients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663440"/>
            <a:ext cx="612648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Extract of Scutellaria baicalensis, Cortex phellodendri, and Cera flava in a sesame oil base.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D6E"/>
                </a:solidFill>
                <a:latin typeface="Inter"/>
              </a:defRPr>
            </a:pPr>
            <a:r>
              <a:t>[Product Image: 40g Tube]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645920"/>
            <a:ext cx="22860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4F6C"/>
                </a:solidFill>
              </a:defRPr>
            </a:pPr>
            <a:r>
              <a:t>MEBO</a:t>
            </a:r>
            <a:br/>
            <a:r>
              <a:t>REGENERATIVE OINTMENT</a:t>
            </a:r>
            <a:br/>
            <a:br/>
            <a:r>
              <a:t>40g tube</a:t>
            </a:r>
            <a:br/>
            <a:r>
              <a:t>Topical 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6400800"/>
            <a:ext cx="11277295" cy="3657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56D04"/>
                </a:solidFill>
                <a:latin typeface="Inter"/>
              </a:defRPr>
            </a:pPr>
            <a:r>
              <a:t>医学技术部审阅意见：_______________________________________________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4F6C"/>
                </a:solidFill>
                <a:latin typeface="Poppins"/>
              </a:defRPr>
            </a:pPr>
            <a:r>
              <a:t>Featured Product: MEBO Wound Repair</a:t>
            </a:r>
          </a:p>
        </p:txBody>
      </p:sp>
      <p:pic>
        <p:nvPicPr>
          <p:cNvPr id="3" name="Picture 2" descr="wound-repai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45720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4F6C"/>
                </a:solidFill>
                <a:latin typeface="Poppins"/>
              </a:defRPr>
            </a:pPr>
            <a:r>
              <a:t>MEBO Wound Repair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D6E"/>
                </a:solidFill>
                <a:latin typeface="Inter"/>
              </a:defRPr>
            </a:pPr>
            <a:r>
              <a:t>Specially formulated regenerative ointment to aid the natural healing of skin wounds including ulcers (bedsores, diabetic, chronic), cracked nipples, shingles, fissures, chilblains, impetigo, hemorrhoids, cracked/chafed/grazed skin, and donor-site repair.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4114800"/>
            <a:ext cx="1463040" cy="320040"/>
          </a:xfrm>
          <a:prstGeom prst="roundRect">
            <a:avLst/>
          </a:prstGeom>
          <a:solidFill>
            <a:srgbClr val="E8F5E9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7AE60"/>
                </a:solidFill>
              </a:defRPr>
            </a:pPr>
            <a:r>
              <a:t>No prescription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4114800"/>
            <a:ext cx="1463040" cy="320040"/>
          </a:xfrm>
          <a:prstGeom prst="roundRect">
            <a:avLst/>
          </a:prstGeom>
          <a:solidFill>
            <a:srgbClr val="E8F5E9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7AE60"/>
                </a:solidFill>
              </a:defRPr>
            </a:pPr>
            <a:r>
              <a:t>Pregnancy safe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4114800"/>
            <a:ext cx="1463040" cy="320040"/>
          </a:xfrm>
          <a:prstGeom prst="roundRect">
            <a:avLst/>
          </a:prstGeom>
          <a:solidFill>
            <a:srgbClr val="E8F5E9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7AE60"/>
                </a:solidFill>
              </a:defRPr>
            </a:pPr>
            <a:r>
              <a:t>Children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400800"/>
            <a:ext cx="11277295" cy="3657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56D04"/>
                </a:solidFill>
                <a:latin typeface="Inter"/>
              </a:defRPr>
            </a:pPr>
            <a:r>
              <a:t>医学技术部审阅意见：_______________________________________________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4F6C"/>
                </a:solidFill>
                <a:latin typeface="Poppins"/>
              </a:defRPr>
            </a:pPr>
            <a:r>
              <a:t>Product Line — Skin Repair</a:t>
            </a:r>
          </a:p>
        </p:txBody>
      </p:sp>
      <p:pic>
        <p:nvPicPr>
          <p:cNvPr id="3" name="Picture 2" descr="burn-repai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32004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B3C"/>
                </a:solidFill>
                <a:latin typeface="Poppins"/>
              </a:defRPr>
            </a:pPr>
            <a:r>
              <a:t>MEBO Burn Repair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Burns, scalds, sunburns</a:t>
            </a:r>
          </a:p>
        </p:txBody>
      </p:sp>
      <p:pic>
        <p:nvPicPr>
          <p:cNvPr id="6" name="Picture 5" descr="anti-it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097280"/>
            <a:ext cx="32004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912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B3C"/>
                </a:solidFill>
                <a:latin typeface="Poppins"/>
              </a:defRPr>
            </a:pPr>
            <a:r>
              <a:t>MEBO Anti-Itch Cream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Itch relief from scars, allergies</a:t>
            </a:r>
          </a:p>
        </p:txBody>
      </p:sp>
      <p:pic>
        <p:nvPicPr>
          <p:cNvPr id="9" name="Picture 8" descr="acne-clea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097280"/>
            <a:ext cx="320040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B3C"/>
                </a:solidFill>
                <a:latin typeface="Poppins"/>
              </a:defRPr>
            </a:pPr>
            <a:r>
              <a:t>MEBO Acne Clear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Cleansing and acne recovery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6400800"/>
            <a:ext cx="11277295" cy="3657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56D04"/>
                </a:solidFill>
                <a:latin typeface="Inter"/>
              </a:defRPr>
            </a:pPr>
            <a:r>
              <a:t>医学技术部审阅意见：_______________________________________________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4F6C"/>
                </a:solidFill>
                <a:latin typeface="Poppins"/>
              </a:defRPr>
            </a:pPr>
            <a:r>
              <a:t>Product Line — Cosmetics</a:t>
            </a:r>
          </a:p>
        </p:txBody>
      </p:sp>
      <p:pic>
        <p:nvPicPr>
          <p:cNvPr id="3" name="Picture 2" descr="anti-aging-ma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32004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B3C"/>
                </a:solidFill>
                <a:latin typeface="Poppins"/>
              </a:defRPr>
            </a:pPr>
            <a:r>
              <a:t>MEBO Anti-aging Sleeping Mask</a:t>
            </a:r>
          </a:p>
        </p:txBody>
      </p:sp>
      <p:pic>
        <p:nvPicPr>
          <p:cNvPr id="5" name="Picture 4" descr="neck-shoul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097280"/>
            <a:ext cx="32004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B3C"/>
                </a:solidFill>
                <a:latin typeface="Poppins"/>
              </a:defRPr>
            </a:pPr>
            <a:r>
              <a:t>MEBO Neck &amp; Shoulder Cream</a:t>
            </a:r>
          </a:p>
        </p:txBody>
      </p:sp>
      <p:pic>
        <p:nvPicPr>
          <p:cNvPr id="7" name="Picture 6" descr="facial-mas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097280"/>
            <a:ext cx="320040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B3C"/>
                </a:solidFill>
                <a:latin typeface="Poppins"/>
              </a:defRPr>
            </a:pPr>
            <a:r>
              <a:t>MEBO Opuntia Facial Mask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400800"/>
            <a:ext cx="11277295" cy="3657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56D04"/>
                </a:solidFill>
                <a:latin typeface="Inter"/>
              </a:defRPr>
            </a:pPr>
            <a:r>
              <a:t>医学技术部审阅意见：_______________________________________________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4F6C"/>
                </a:solidFill>
                <a:latin typeface="Poppins"/>
              </a:defRPr>
            </a:pPr>
            <a:r>
              <a:t>Product Line — Dietary Supplement</a:t>
            </a:r>
          </a:p>
        </p:txBody>
      </p:sp>
      <p:pic>
        <p:nvPicPr>
          <p:cNvPr id="3" name="Picture 2" descr="gi-capsu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97280"/>
            <a:ext cx="32004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B3C"/>
                </a:solidFill>
                <a:latin typeface="Poppins"/>
              </a:defRPr>
            </a:pPr>
            <a:r>
              <a:t>MEBO Life GI Regenerate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120 regenerative softgel capsules</a:t>
            </a:r>
          </a:p>
        </p:txBody>
      </p:sp>
      <p:pic>
        <p:nvPicPr>
          <p:cNvPr id="6" name="Picture 5" descr="glym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97280"/>
            <a:ext cx="32004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B3C"/>
                </a:solidFill>
                <a:latin typeface="Poppins"/>
              </a:defRPr>
            </a:pPr>
            <a:r>
              <a:t>GLYMATE Sugar 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60 all-natural softgel capsules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400800"/>
            <a:ext cx="11277295" cy="3657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56D04"/>
                </a:solidFill>
                <a:latin typeface="Inter"/>
              </a:defRPr>
            </a:pPr>
            <a:r>
              <a:t>医学技术部审阅意见：_______________________________________________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4F6C"/>
                </a:solidFill>
                <a:latin typeface="Poppins"/>
              </a:defRPr>
            </a:pPr>
            <a:r>
              <a:t>Product Specifications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4F6C"/>
                </a:solidFill>
                <a:latin typeface="Poppins"/>
              </a:defRPr>
            </a:pPr>
            <a:r>
              <a:t>Product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0972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MEBO Ointment (MEBO Burn Cream)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4F6C"/>
                </a:solidFill>
                <a:latin typeface="Poppins"/>
              </a:defRPr>
            </a:pPr>
            <a:r>
              <a:t>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6002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Medical device / Pharmaceutical product for topical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4F6C"/>
                </a:solidFill>
                <a:latin typeface="Poppins"/>
              </a:defRPr>
            </a:pPr>
            <a:r>
              <a:t>Active ingredients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1031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β-Sitosterol, Baicalein, Berberine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4F6C"/>
                </a:solidFill>
                <a:latin typeface="Poppins"/>
              </a:defRPr>
            </a:pPr>
            <a:r>
              <a:t>Pharmaceutical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606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Beeswax (Cera flava) and sesame oil (Sesamum indicum)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4F6C"/>
                </a:solidFill>
                <a:latin typeface="Poppins"/>
              </a:defRPr>
            </a:pPr>
            <a:r>
              <a:t>Presentations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10895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40 g tube · 120 g tube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118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4F6C"/>
                </a:solidFill>
                <a:latin typeface="Poppins"/>
              </a:defRPr>
            </a:pPr>
            <a:r>
              <a:t>Route of administration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61187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Topical / External use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79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4F6C"/>
                </a:solidFill>
                <a:latin typeface="Poppins"/>
              </a:defRPr>
            </a:pPr>
            <a:r>
              <a:t>Storage conditions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11479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Store at room temperature (15–30 °C), protect from direct light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177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4F6C"/>
                </a:solidFill>
                <a:latin typeface="Poppins"/>
              </a:defRPr>
            </a:pPr>
            <a:r>
              <a:t>Shelf life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61771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36 months from manufacturing 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206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4F6C"/>
                </a:solidFill>
                <a:latin typeface="Poppins"/>
              </a:defRPr>
            </a:pPr>
            <a:r>
              <a:t>Health registration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1206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Varies by country. Consult local registration in your jurisdiction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6400800"/>
            <a:ext cx="11277295" cy="3657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56D04"/>
                </a:solidFill>
                <a:latin typeface="Inter"/>
              </a:defRPr>
            </a:pPr>
            <a:r>
              <a:t>医学技术部审阅意见：_______________________________________________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4F6C"/>
                </a:solidFill>
                <a:latin typeface="Poppins"/>
              </a:defRPr>
            </a:pPr>
            <a:r>
              <a:t>Indications — What is MEBO Ointment used for?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3035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A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B3C"/>
                </a:solidFill>
                <a:latin typeface="Poppins"/>
              </a:defRPr>
            </a:pPr>
            <a:r>
              <a:t>Burns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Partial-thickness burns (superficial and deep), thermal and scald burns. Promotes epidermal regeneration with minimal pain and scarring.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3035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A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B3C"/>
                </a:solidFill>
                <a:latin typeface="Poppins"/>
              </a:defRPr>
            </a:pPr>
            <a:r>
              <a:t>Chronic Ulcers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64592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Pressure ulcers (bedsores), venous ulcers, and arterial ulcers. Facilitates debridement and tissue granulation.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53035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A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B3C"/>
                </a:solidFill>
                <a:latin typeface="Poppins"/>
              </a:defRPr>
            </a:pPr>
            <a:r>
              <a:t>Diabetic Foot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Lesions and ulcers of the foot in patients with diabetes. Helps prevent amputation through tissue regeneration.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200400"/>
            <a:ext cx="53035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A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B3C"/>
                </a:solidFill>
                <a:latin typeface="Poppins"/>
              </a:defRPr>
            </a:pPr>
            <a:r>
              <a:t>Donor Sites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65760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Skin graft harvesting sites. Accelerates donor area healing and reduces postoperative pain.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6400800"/>
            <a:ext cx="11277295" cy="3657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56D04"/>
                </a:solidFill>
                <a:latin typeface="Inter"/>
              </a:defRPr>
            </a:pPr>
            <a:r>
              <a:t>医学技术部审阅意见：_______________________________________________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4F6C"/>
                </a:solidFill>
                <a:latin typeface="Poppins"/>
              </a:defRPr>
            </a:pPr>
            <a:r>
              <a:t>Mode of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D6E"/>
                </a:solidFill>
                <a:latin typeface="Inter"/>
              </a:defRPr>
            </a:pPr>
            <a:r>
              <a:t>General MEBO Ointment application protocol. Specific application must be indicated by a healthcare professional.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A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B3C"/>
                </a:solidFill>
                <a:latin typeface="Poppins"/>
              </a:defRPr>
            </a:pPr>
            <a:r>
              <a:t>1. Clean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286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Gently clean the affected area with saline solution. Do not use aggressive antiseptics.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37160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A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B3C"/>
                </a:solidFill>
                <a:latin typeface="Poppins"/>
              </a:defRPr>
            </a:pPr>
            <a:r>
              <a:t>2. Apply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28800"/>
            <a:ext cx="2286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Apply a uniform layer of MEBO Ointment 1–2 mm thick over the entire wound surface.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37160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A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B3C"/>
                </a:solidFill>
                <a:latin typeface="Poppins"/>
              </a:defRPr>
            </a:pPr>
            <a:r>
              <a:t>3. 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828800"/>
            <a:ext cx="2286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Cover with sterile non-adherent dressing as indicated. Renew every 4–6 hours or as prescribed.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37160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A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2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B3C"/>
                </a:solidFill>
                <a:latin typeface="Poppins"/>
              </a:defRPr>
            </a:pPr>
            <a:r>
              <a:t>4. Reapply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1828800"/>
            <a:ext cx="2286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Clean residual ointment from previous application and reapply. Continue until complete re-epithelialization.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10972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8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114800"/>
            <a:ext cx="10698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Application frequency and treatment duration depend on the type, size, and severity of the lesion. Always follow the instructions of your treating healthcare professional.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6400800"/>
            <a:ext cx="11277295" cy="3657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56D04"/>
                </a:solidFill>
                <a:latin typeface="Inter"/>
              </a:defRPr>
            </a:pPr>
            <a:r>
              <a:t>医学技术部审阅意见：_______________________________________________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4F6C"/>
                </a:solidFill>
                <a:latin typeface="Poppins"/>
              </a:defRPr>
            </a:pPr>
            <a:r>
              <a:t>Dressing Change Methods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4747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A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B3C"/>
                </a:solidFill>
                <a:latin typeface="Poppins"/>
              </a:defRPr>
            </a:pPr>
            <a:r>
              <a:t>Exposed Method</a:t>
            </a:r>
            <a:br/>
            <a:r>
              <a:t>Every 4-6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3200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Spread a 1 mm thick layer of MEBO on the wound.</a:t>
            </a:r>
            <a:br/>
            <a:br/>
            <a:r>
              <a:t>Wound → MEBO 1mm → Exposed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097280"/>
            <a:ext cx="34747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A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B3C"/>
                </a:solidFill>
                <a:latin typeface="Poppins"/>
              </a:defRPr>
            </a:pPr>
            <a:r>
              <a:t>Semi-exposed Method</a:t>
            </a:r>
            <a:br/>
            <a:r>
              <a:t>Every 8-12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54480"/>
            <a:ext cx="3200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Spread a 1-2 mm thick layer of MEBO on the wound.</a:t>
            </a:r>
            <a:br/>
            <a:br/>
            <a:r>
              <a:t>Cover with 1-2 layers of gauze impregnated with MEBO.</a:t>
            </a:r>
            <a:br/>
            <a:br/>
            <a:r>
              <a:t>Wound → MEBO 1-2mm → Gauze 1-2 layers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097280"/>
            <a:ext cx="34747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A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B3C"/>
                </a:solidFill>
                <a:latin typeface="Poppins"/>
              </a:defRPr>
            </a:pPr>
            <a:r>
              <a:t>Dressing Method</a:t>
            </a:r>
            <a:br/>
            <a:r>
              <a:t>Every 12-24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1554480"/>
            <a:ext cx="3200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Spread a 2-3 mm thick layer of MEBO on the wound.</a:t>
            </a:r>
            <a:br/>
            <a:br/>
            <a:r>
              <a:t>Cover with 2-4 layers of gauze impregnated with MEBO.</a:t>
            </a:r>
            <a:br/>
            <a:br/>
            <a:r>
              <a:t>Secure with cotton pad and bandage.</a:t>
            </a:r>
            <a:br/>
            <a:br/>
            <a:r>
              <a:t>Wound → MEBO 2-3mm → Gauze 2-4 layers → Cotton + Bandage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6400800"/>
            <a:ext cx="11277295" cy="3657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56D04"/>
                </a:solidFill>
                <a:latin typeface="Inter"/>
              </a:defRPr>
            </a:pPr>
            <a:r>
              <a:t>医学技术部审阅意见：_______________________________________________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4F6C"/>
                </a:solidFill>
                <a:latin typeface="Poppins"/>
              </a:defRPr>
            </a:pPr>
            <a:r>
              <a:t>Safety Information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47472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B3C"/>
                </a:solidFill>
                <a:latin typeface="Poppins"/>
              </a:defRPr>
            </a:pPr>
            <a:r>
              <a:t>Contraindications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3200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• Known hypersensitivity to any of the components</a:t>
            </a:r>
            <a:br/>
            <a:r>
              <a:t>• Allergy to bee products (beeswax)</a:t>
            </a:r>
            <a:br/>
            <a:r>
              <a:t>• Full-thickness burns requiring surgical escharotomy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097280"/>
            <a:ext cx="347472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B3C"/>
                </a:solidFill>
                <a:latin typeface="Poppins"/>
              </a:defRPr>
            </a:pPr>
            <a:r>
              <a:t>Precautions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54480"/>
            <a:ext cx="3200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• External use only. Do not ingest</a:t>
            </a:r>
            <a:br/>
            <a:r>
              <a:t>• Avoid contact with eyes</a:t>
            </a:r>
            <a:br/>
            <a:r>
              <a:t>• During pregnancy or lactation, consult your doctor</a:t>
            </a:r>
            <a:br/>
            <a:r>
              <a:t>• Do not use on penetrating wounds without medical supervision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097280"/>
            <a:ext cx="347472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A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B3C"/>
                </a:solidFill>
                <a:latin typeface="Poppins"/>
              </a:defRPr>
            </a:pPr>
            <a:r>
              <a:t>Adverse Reactions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1554480"/>
            <a:ext cx="3200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• Rarely: transient local irritation</a:t>
            </a:r>
            <a:br/>
            <a:r>
              <a:t>• Very rarely: cutaneous allergic reaction</a:t>
            </a:r>
            <a:br/>
            <a:r>
              <a:t>• In case of adverse reaction, discontinue use and consult your doctor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10789920" cy="73152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856D04"/>
                </a:solidFill>
                <a:latin typeface="Inter"/>
              </a:defRPr>
            </a:pPr>
            <a:r>
              <a:t>Important notice: This information is for guidance only and does not replace professional medical advice. Always consult your doctor or pharmacist before using this product. Keep out of the reach of children.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6400800"/>
            <a:ext cx="11277295" cy="3657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56D04"/>
                </a:solidFill>
                <a:latin typeface="Inter"/>
              </a:defRPr>
            </a:pPr>
            <a:r>
              <a:t>医学技术部审阅意见：_______________________________________________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Poppins"/>
              </a:defRPr>
            </a:pPr>
            <a:r>
              <a:t>Need More Information?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EEAD4"/>
                </a:solidFill>
                <a:latin typeface="Inter"/>
              </a:defRPr>
            </a:pPr>
            <a:r>
              <a:t>Access professional resources, complete clinical data, and technical documentation for healthcare professionals.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4754880"/>
            <a:ext cx="2743200" cy="54864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4F6C"/>
                </a:solidFill>
                <a:latin typeface="Poppins"/>
              </a:defRPr>
            </a:pPr>
            <a:r>
              <a:t>Contact 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6400800"/>
            <a:ext cx="11277295" cy="3657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56D04"/>
                </a:solidFill>
                <a:latin typeface="Inter"/>
              </a:defRPr>
            </a:pPr>
            <a:r>
              <a:t>医学技术部审阅意见：_______________________________________________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